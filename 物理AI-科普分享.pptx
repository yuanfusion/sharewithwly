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2377440"/>
            <a:ext cx="6583680" cy="6583680"/>
          </a:xfrm>
          <a:prstGeom prst="ellipse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-1463040"/>
            <a:ext cx="4572000" cy="4572000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480560"/>
            <a:ext cx="3108960" cy="3108960"/>
          </a:xfrm>
          <a:prstGeom prst="ellipse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5760720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5760720"/>
            <a:ext cx="164592" cy="164592"/>
          </a:xfrm>
          <a:prstGeom prst="ellipse">
            <a:avLst/>
          </a:prstGeom>
          <a:solidFill>
            <a:srgbClr val="028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5760720"/>
            <a:ext cx="164592" cy="164592"/>
          </a:xfrm>
          <a:prstGeom prst="ellipse">
            <a:avLst/>
          </a:prstGeom>
          <a:solidFill>
            <a:srgbClr val="D97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3716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2748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行业科普 · 趋势解读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6596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物理 </a:t>
            </a:r>
            <a:r>
              <a:rPr sz="66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AI</a:t>
            </a:r>
          </a:p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Physical AI：让智能走出屏幕，走进真实世界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从会“说”的 AI，到会“做”的 AI —— 机器人与自动驾驶背后的下一代人工智能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968" y="4892040"/>
            <a:ext cx="3840480" cy="0"/>
          </a:xfrm>
          <a:prstGeom prst="line">
            <a:avLst/>
          </a:prstGeom>
          <a:ln w="19050">
            <a:solidFill>
              <a:srgbClr val="DDEA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5120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内部技术分享  |  2026 年 7 月</a:t>
            </a:r>
          </a:p>
        </p:txBody>
      </p:sp>
      <p:sp>
        <p:nvSpPr>
          <p:cNvPr id="15" name="Oval 14"/>
          <p:cNvSpPr/>
          <p:nvPr/>
        </p:nvSpPr>
        <p:spPr>
          <a:xfrm>
            <a:off x="9646920" y="2377440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2523744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感知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30384" y="2944368"/>
            <a:ext cx="0" cy="146304"/>
          </a:xfrm>
          <a:prstGeom prst="line">
            <a:avLst/>
          </a:prstGeom>
          <a:ln w="15240">
            <a:solidFill>
              <a:srgbClr val="8A9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646920" y="3090672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3236976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28AC8"/>
                </a:solidFill>
                <a:latin typeface="微软雅黑"/>
                <a:ea typeface="微软雅黑"/>
                <a:cs typeface="微软雅黑"/>
              </a:rPr>
              <a:t>理解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30384" y="3657600"/>
            <a:ext cx="0" cy="146304"/>
          </a:xfrm>
          <a:prstGeom prst="line">
            <a:avLst/>
          </a:prstGeom>
          <a:ln w="15240">
            <a:solidFill>
              <a:srgbClr val="8A9B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646920" y="3803904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395020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97D0E"/>
                </a:solidFill>
                <a:latin typeface="微软雅黑"/>
                <a:ea typeface="微软雅黑"/>
                <a:cs typeface="微软雅黑"/>
              </a:rPr>
              <a:t>行动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377440"/>
            <a:ext cx="1371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与真实世界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持续闭环交互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02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60020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874520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92808" y="189280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什么是物理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8" y="238658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定义、演进与核心能力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60020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1874520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28AC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189280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物理 AI 在做什么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238658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三大核心任务与技术底座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172968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447288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6D5FC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8" y="34655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与 Agent、机器人的对比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395935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特点与优势在哪里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172968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3447288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97D0E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346557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产业格局与优秀案例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395935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领先公司 + 落地故事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745736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F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020056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04E6A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92808" y="503834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未来趋势与挑战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8" y="55321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五大趋势、四大挑战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745736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3096" y="5020056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503834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普通人如何入门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6368" y="55321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学习路线与资源清单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097280" y="-914400"/>
            <a:ext cx="5669280" cy="868680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108960" y="4480560"/>
            <a:ext cx="1463040" cy="1463040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29000" y="48006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56432"/>
            <a:ext cx="466344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WHAT IS PHYSICAL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4884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什么是物理 AI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38928" y="3017520"/>
            <a:ext cx="6309360" cy="0"/>
          </a:xfrm>
          <a:prstGeom prst="line">
            <a:avLst/>
          </a:prstGeom>
          <a:ln w="15240">
            <a:solidFill>
              <a:srgbClr val="DDEA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175504" y="339242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331012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AI 的四次范式演进：从感知 AI 到物理 AI</a:t>
            </a:r>
          </a:p>
        </p:txBody>
      </p:sp>
      <p:sp>
        <p:nvSpPr>
          <p:cNvPr id="12" name="Oval 11"/>
          <p:cNvSpPr/>
          <p:nvPr/>
        </p:nvSpPr>
        <p:spPr>
          <a:xfrm>
            <a:off x="5175504" y="386791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378561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物理 AI 的定义与三大核心特征</a:t>
            </a:r>
          </a:p>
        </p:txBody>
      </p:sp>
      <p:sp>
        <p:nvSpPr>
          <p:cNvPr id="14" name="Oval 13"/>
          <p:cNvSpPr/>
          <p:nvPr/>
        </p:nvSpPr>
        <p:spPr>
          <a:xfrm>
            <a:off x="5175504" y="434340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4261104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为什么说物理 AI 的“ChatGPT 时刻”已经到来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AI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AI 的四次范式演进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04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984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英伟达 CEO 黄仁勋将 AI 的发展划分为四个阶段，物理 AI 是最新的一波浪潮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8" y="2788920"/>
            <a:ext cx="10698480" cy="0"/>
          </a:xfrm>
          <a:prstGeom prst="line">
            <a:avLst/>
          </a:prstGeom>
          <a:ln w="25400">
            <a:solidFill>
              <a:srgbClr val="DDEA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709928" y="2706624"/>
            <a:ext cx="164592" cy="164592"/>
          </a:xfrm>
          <a:prstGeom prst="ellipse">
            <a:avLst/>
          </a:prstGeom>
          <a:solidFill>
            <a:srgbClr val="8A9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154680"/>
            <a:ext cx="2542032" cy="2286000"/>
          </a:xfrm>
          <a:prstGeom prst="roundRect">
            <a:avLst>
              <a:gd name="adj" fmla="val 8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355848"/>
            <a:ext cx="2084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感知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758184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Perception AI · 约 2012 年起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114800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看得懂、听得清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572000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图像识别、语音转写、人脸识别</a:t>
            </a:r>
          </a:p>
        </p:txBody>
      </p:sp>
      <p:sp>
        <p:nvSpPr>
          <p:cNvPr id="19" name="Oval 18"/>
          <p:cNvSpPr/>
          <p:nvPr/>
        </p:nvSpPr>
        <p:spPr>
          <a:xfrm>
            <a:off x="4526280" y="2706624"/>
            <a:ext cx="164592" cy="164592"/>
          </a:xfrm>
          <a:prstGeom prst="ellipse">
            <a:avLst/>
          </a:prstGeom>
          <a:solidFill>
            <a:srgbClr val="028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83280" y="3154680"/>
            <a:ext cx="2542032" cy="22860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355848"/>
            <a:ext cx="2084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生成式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758184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28AC8"/>
                </a:solidFill>
                <a:latin typeface="微软雅黑"/>
                <a:ea typeface="微软雅黑"/>
                <a:cs typeface="微软雅黑"/>
              </a:rPr>
              <a:t>Generative AI · 2022 年起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114800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会写作、会画画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572000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ChatGPT、文生图、代码生成</a:t>
            </a:r>
          </a:p>
        </p:txBody>
      </p:sp>
      <p:sp>
        <p:nvSpPr>
          <p:cNvPr id="25" name="Oval 24"/>
          <p:cNvSpPr/>
          <p:nvPr/>
        </p:nvSpPr>
        <p:spPr>
          <a:xfrm>
            <a:off x="7342632" y="2706624"/>
            <a:ext cx="164592" cy="164592"/>
          </a:xfrm>
          <a:prstGeom prst="ellipse">
            <a:avLst/>
          </a:prstGeom>
          <a:solidFill>
            <a:srgbClr val="6D5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3154680"/>
            <a:ext cx="2542032" cy="2286000"/>
          </a:xfrm>
          <a:prstGeom prst="roundRect">
            <a:avLst>
              <a:gd name="adj" fmla="val 8000"/>
            </a:avLst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3355848"/>
            <a:ext cx="2084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代理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3758184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D5FC4"/>
                </a:solidFill>
                <a:latin typeface="微软雅黑"/>
                <a:ea typeface="微软雅黑"/>
                <a:cs typeface="微软雅黑"/>
              </a:rPr>
              <a:t>Agentic AI · 2024 年起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114800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会推理、会调用工具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4572000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AI Agent 自动完成数字任务</a:t>
            </a:r>
          </a:p>
        </p:txBody>
      </p:sp>
      <p:sp>
        <p:nvSpPr>
          <p:cNvPr id="31" name="Oval 30"/>
          <p:cNvSpPr/>
          <p:nvPr/>
        </p:nvSpPr>
        <p:spPr>
          <a:xfrm>
            <a:off x="10158984" y="2706624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15984" y="3154680"/>
            <a:ext cx="2542032" cy="22860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405872" y="299923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05872" y="304038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当下浪潮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3355848"/>
            <a:ext cx="208483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物理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584" y="3758184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Physical AI · 2025 年起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44584" y="4114800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理解物理规律、能动手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4572000"/>
            <a:ext cx="20848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机器人、自动驾驶走进现实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76072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88873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一句话理解：前几代 AI 生活在“屏幕里”，物理 AI 则让智能第一次真正走进“物理世界”。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什么是物理 AI？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05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371600"/>
            <a:ext cx="11064240" cy="123444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572768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物理 AI（Physical AI）是能够理解现实世界、并与之交互的 AI 模型 ——</a:t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它让机器人、自动驾驶汽车等自主机器，在真实物理世界中完成 感知 → 理解 → 行动 的闭环。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80360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2880360"/>
            <a:ext cx="109728" cy="12984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特征 1 · 懂物理规律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47288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理解重力、摩擦、碰撞、材质特性，知道“松手物体会下落”“水杯一推会洒”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880360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0488" y="2880360"/>
            <a:ext cx="109728" cy="1298448"/>
          </a:xfrm>
          <a:prstGeom prst="roundRect">
            <a:avLst>
              <a:gd name="adj" fmla="val 50000"/>
            </a:avLst>
          </a:prstGeom>
          <a:solidFill>
            <a:srgbClr val="028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0449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特征 2 · 多模态感知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447288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通过摄像头、激光雷达、麦克风、触觉传感器，像人一样“眼观六路、耳听八方”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361688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4361688"/>
            <a:ext cx="109728" cy="1298448"/>
          </a:xfrm>
          <a:prstGeom prst="roundRect">
            <a:avLst>
              <a:gd name="adj" fmla="val 50000"/>
            </a:avLst>
          </a:prstGeom>
          <a:solidFill>
            <a:srgbClr val="D97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5262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特征 3 · 能动手执行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928616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不只输出文字，而是输出动作：抓取、行走、驾驶，直接改变物理世界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4361688"/>
            <a:ext cx="534924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0488" y="4361688"/>
            <a:ext cx="109728" cy="1298448"/>
          </a:xfrm>
          <a:prstGeom prst="roundRect">
            <a:avLst>
              <a:gd name="adj" fmla="val 50000"/>
            </a:avLst>
          </a:prstGeom>
          <a:solidFill>
            <a:srgbClr val="6D5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45262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特征 4 · 从交互中学习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928616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在仿真与真实环境中反复试错，越用越聪明，能力可以持续进化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D97D0E"/>
                </a:solidFill>
                <a:latin typeface="微软雅黑"/>
                <a:ea typeface="微软雅黑"/>
                <a:cs typeface="微软雅黑"/>
              </a:rPr>
              <a:t>2026 年 CES 上，黄仁勋宣布：物理 AI 的“ChatGPT 时刻”已经到来。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物理 AI 主要在做什么？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06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984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核心思路：先在“虚拟世界”里低成本学会本领，再把本领迁移到真实机器上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8308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783080"/>
            <a:ext cx="3520440" cy="914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① 建世界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54203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构建高保真仿真环境与世界模型</a:t>
            </a:r>
          </a:p>
        </p:txBody>
      </p:sp>
      <p:sp>
        <p:nvSpPr>
          <p:cNvPr id="16" name="Oval 15"/>
          <p:cNvSpPr/>
          <p:nvPr/>
        </p:nvSpPr>
        <p:spPr>
          <a:xfrm>
            <a:off x="859536" y="3273552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20040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用数字孪生复刻工厂、道路、家庭</a:t>
            </a:r>
          </a:p>
        </p:txBody>
      </p:sp>
      <p:sp>
        <p:nvSpPr>
          <p:cNvPr id="18" name="Oval 17"/>
          <p:cNvSpPr/>
          <p:nvPr/>
        </p:nvSpPr>
        <p:spPr>
          <a:xfrm>
            <a:off x="859536" y="3895344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3822191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世界模型按物理规律“想象”未来画面</a:t>
            </a:r>
          </a:p>
        </p:txBody>
      </p:sp>
      <p:sp>
        <p:nvSpPr>
          <p:cNvPr id="20" name="Oval 19"/>
          <p:cNvSpPr/>
          <p:nvPr/>
        </p:nvSpPr>
        <p:spPr>
          <a:xfrm>
            <a:off x="859536" y="4517136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4443983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代表：NVIDIA Omniverse / Cosmos</a:t>
            </a:r>
          </a:p>
        </p:txBody>
      </p:sp>
      <p:sp>
        <p:nvSpPr>
          <p:cNvPr id="22" name="Chevron 21"/>
          <p:cNvSpPr/>
          <p:nvPr/>
        </p:nvSpPr>
        <p:spPr>
          <a:xfrm>
            <a:off x="4105656" y="3200400"/>
            <a:ext cx="274320" cy="365760"/>
          </a:xfrm>
          <a:prstGeom prst="chevron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43400" y="178308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43400" y="1783080"/>
            <a:ext cx="3520440" cy="914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② 教本领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54203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在仿真中生成数据、训练模型</a:t>
            </a:r>
          </a:p>
        </p:txBody>
      </p:sp>
      <p:sp>
        <p:nvSpPr>
          <p:cNvPr id="27" name="Oval 26"/>
          <p:cNvSpPr/>
          <p:nvPr/>
        </p:nvSpPr>
        <p:spPr>
          <a:xfrm>
            <a:off x="4636008" y="3273552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8888" y="320040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合成数据解决真实数据稀缺昂贵问题</a:t>
            </a:r>
          </a:p>
        </p:txBody>
      </p:sp>
      <p:sp>
        <p:nvSpPr>
          <p:cNvPr id="29" name="Oval 28"/>
          <p:cNvSpPr/>
          <p:nvPr/>
        </p:nvSpPr>
        <p:spPr>
          <a:xfrm>
            <a:off x="4636008" y="3895344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18888" y="3822191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强化学习 + 模仿学习，一夜可练百万次</a:t>
            </a:r>
          </a:p>
        </p:txBody>
      </p:sp>
      <p:sp>
        <p:nvSpPr>
          <p:cNvPr id="31" name="Oval 30"/>
          <p:cNvSpPr/>
          <p:nvPr/>
        </p:nvSpPr>
        <p:spPr>
          <a:xfrm>
            <a:off x="4636008" y="4517136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18888" y="4443983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代表：Isaac Lab / GR00T 模型</a:t>
            </a:r>
          </a:p>
        </p:txBody>
      </p:sp>
      <p:sp>
        <p:nvSpPr>
          <p:cNvPr id="33" name="Chevron 32"/>
          <p:cNvSpPr/>
          <p:nvPr/>
        </p:nvSpPr>
        <p:spPr>
          <a:xfrm>
            <a:off x="7882128" y="3200400"/>
            <a:ext cx="274320" cy="365760"/>
          </a:xfrm>
          <a:prstGeom prst="chevron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19872" y="1783080"/>
            <a:ext cx="35204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19872" y="1783080"/>
            <a:ext cx="3520440" cy="914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94192" y="20574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③ 上真机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2542032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把模型部署到机器人与车辆</a:t>
            </a:r>
          </a:p>
        </p:txBody>
      </p:sp>
      <p:sp>
        <p:nvSpPr>
          <p:cNvPr id="38" name="Oval 37"/>
          <p:cNvSpPr/>
          <p:nvPr/>
        </p:nvSpPr>
        <p:spPr>
          <a:xfrm>
            <a:off x="8412480" y="3273552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320040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Sim-to-Real 迁移到真实硬件</a:t>
            </a:r>
          </a:p>
        </p:txBody>
      </p:sp>
      <p:sp>
        <p:nvSpPr>
          <p:cNvPr id="40" name="Oval 39"/>
          <p:cNvSpPr/>
          <p:nvPr/>
        </p:nvSpPr>
        <p:spPr>
          <a:xfrm>
            <a:off x="8412480" y="3895344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3822191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端侧算力实时推理，闭环控制</a:t>
            </a:r>
          </a:p>
        </p:txBody>
      </p:sp>
      <p:sp>
        <p:nvSpPr>
          <p:cNvPr id="42" name="Oval 41"/>
          <p:cNvSpPr/>
          <p:nvPr/>
        </p:nvSpPr>
        <p:spPr>
          <a:xfrm>
            <a:off x="8412480" y="4517136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4443983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代表：Jetson Thor / DRIVE 平台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349240"/>
            <a:ext cx="11064240" cy="868680"/>
          </a:xfrm>
          <a:prstGeom prst="roundRect">
            <a:avLst>
              <a:gd name="adj" fmla="val 18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532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为什么重要？  真实世界试错又慢又贵又危险 —— 让机器在仿真里“摔一百万次”，</a:t>
            </a:r>
            <a:r>
              <a:rPr sz="1350" b="1" i="0">
                <a:solidFill>
                  <a:srgbClr val="028AC8"/>
                </a:solidFill>
                <a:latin typeface="微软雅黑"/>
                <a:ea typeface="微软雅黑"/>
                <a:cs typeface="微软雅黑"/>
              </a:rPr>
              <a:t>才能把成本、周期与安全风险降到可落地的水平。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TECH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技术底座：支撑物理 AI 的“三台计算机”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07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600200"/>
            <a:ext cx="3520440" cy="28346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1874519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02996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19202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训练计算机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22860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超级算力“教练”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2697480"/>
            <a:ext cx="2971800" cy="0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代表平台：DGX / 云 GPU 集群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20040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用海量数据与世界模型训练出机器人的“大脑”</a:t>
            </a:r>
          </a:p>
        </p:txBody>
      </p:sp>
      <p:sp>
        <p:nvSpPr>
          <p:cNvPr id="19" name="Chevron 18"/>
          <p:cNvSpPr/>
          <p:nvPr/>
        </p:nvSpPr>
        <p:spPr>
          <a:xfrm>
            <a:off x="4105656" y="2834640"/>
            <a:ext cx="274320" cy="365760"/>
          </a:xfrm>
          <a:prstGeom prst="chevron">
            <a:avLst/>
          </a:prstGeom>
          <a:solidFill>
            <a:srgbClr val="D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0" y="1600200"/>
            <a:ext cx="3520440" cy="283464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17720" y="1874519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202996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28AC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19202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仿真计算机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2860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虚拟练兵场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17720" y="2697480"/>
            <a:ext cx="2971800" cy="0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617720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AC8"/>
                </a:solidFill>
                <a:latin typeface="微软雅黑"/>
                <a:ea typeface="微软雅黑"/>
                <a:cs typeface="微软雅黑"/>
              </a:rPr>
              <a:t>代表平台：Omniverse + Cosmos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20040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数字孪生 + 世界模型，生成合成数据并做闭环验证</a:t>
            </a:r>
          </a:p>
        </p:txBody>
      </p:sp>
      <p:sp>
        <p:nvSpPr>
          <p:cNvPr id="28" name="Chevron 27"/>
          <p:cNvSpPr/>
          <p:nvPr/>
        </p:nvSpPr>
        <p:spPr>
          <a:xfrm>
            <a:off x="7882128" y="2834640"/>
            <a:ext cx="274320" cy="365760"/>
          </a:xfrm>
          <a:prstGeom prst="chevron">
            <a:avLst/>
          </a:prstGeom>
          <a:solidFill>
            <a:srgbClr val="DD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19872" y="1600200"/>
            <a:ext cx="3520440" cy="283464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94192" y="1874519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D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202996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D97D0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1432" y="19202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本体计算机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1432" y="22860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装在机器里的小脑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394192" y="2697480"/>
            <a:ext cx="2971800" cy="0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94192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D97D0E"/>
                </a:solidFill>
                <a:latin typeface="微软雅黑"/>
                <a:ea typeface="微软雅黑"/>
                <a:cs typeface="微软雅黑"/>
              </a:rPr>
              <a:t>代表平台：Jetson Thor / DRIVE AGX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200400"/>
            <a:ext cx="3017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部署在机器人与车辆上，实时感知、决策、控制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75488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95604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关键模型层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34924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Cosmos 世界模型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5650992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物理世界的“教科书”，基于 2000 万+ 小时真实数据训练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3128" y="534924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GR00T 机器人模型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3128" y="5650992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通用人形机器人的“大脑”，开源可用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534924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Alpamayo 自驾模型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5650992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面向 L4 自动驾驶的开源推理模型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097280" y="-914400"/>
            <a:ext cx="5669280" cy="868680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108960" y="4480560"/>
            <a:ext cx="1463040" cy="1463040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29000" y="48006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56432"/>
            <a:ext cx="466344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VS. AGENTS &amp; ROBOTS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4884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与 Agent、机器人的对比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38928" y="3017520"/>
            <a:ext cx="6309360" cy="0"/>
          </a:xfrm>
          <a:prstGeom prst="line">
            <a:avLst/>
          </a:prstGeom>
          <a:ln w="15240">
            <a:solidFill>
              <a:srgbClr val="DDEA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175504" y="339242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331012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物理 AI vs AI Agent：数字世界 vs 物理世界</a:t>
            </a:r>
          </a:p>
        </p:txBody>
      </p:sp>
      <p:sp>
        <p:nvSpPr>
          <p:cNvPr id="12" name="Oval 11"/>
          <p:cNvSpPr/>
          <p:nvPr/>
        </p:nvSpPr>
        <p:spPr>
          <a:xfrm>
            <a:off x="5175504" y="386791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378561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物理 AI vs 传统机器人：专机专用 vs 通用智能</a:t>
            </a:r>
          </a:p>
        </p:txBody>
      </p:sp>
      <p:sp>
        <p:nvSpPr>
          <p:cNvPr id="14" name="Oval 13"/>
          <p:cNvSpPr/>
          <p:nvPr/>
        </p:nvSpPr>
        <p:spPr>
          <a:xfrm>
            <a:off x="5175504" y="434340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4261104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物理 AI 的四大核心优势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COMPARISON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物理 AI vs AI Agent：一字之差，两个世界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09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2928" y="1463040"/>
            <a:ext cx="4251960" cy="502920"/>
          </a:xfrm>
          <a:prstGeom prst="roundRect">
            <a:avLst>
              <a:gd name="adj" fmla="val 25000"/>
            </a:avLst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1572768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D5FC4"/>
                </a:solidFill>
                <a:latin typeface="微软雅黑"/>
                <a:ea typeface="微软雅黑"/>
                <a:cs typeface="微软雅黑"/>
              </a:rPr>
              <a:t>AI Agent（代理 AI）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1463040"/>
            <a:ext cx="4251960" cy="502920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8" y="1572768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物理 AI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153619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618488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2677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运行空间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2121408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5808" y="2231136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数字世界：浏览器、软件、API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2121408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2231136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物理世界：工厂、道路、家庭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98094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输出结果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52928" y="2834639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5808" y="2944368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文字、代码、点击等数字动作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7768" y="2834639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0648" y="2944368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电机指令：抓取、行走、驾驶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9417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核心难点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52928" y="3547872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35808" y="3657600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推理规划、工具调用、长任务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87768" y="3547872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8" y="3657600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物理规律、实时控制、安全冗余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40740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试错成本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52928" y="4261104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35808" y="437083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错了重来，几乎零成本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4261104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0648" y="437083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试错昂贵危险，依赖仿真训练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1206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典型代表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52928" y="4974336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35808" y="5084064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Claude / Manus / 各类办公 Agent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87768" y="4974336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70648" y="5084064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人形机器人、自动驾驶汽车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806440"/>
            <a:ext cx="110642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593445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关系：Agent 是物理 AI 的“决策层”——物理 AI = Agent 的大脑 + 机器人的身体 + 物理常识。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COMPARISON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物理 AI vs 传统机器人：从“专机”到“通才”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10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2928" y="1463040"/>
            <a:ext cx="4251960" cy="502920"/>
          </a:xfrm>
          <a:prstGeom prst="roundRect">
            <a:avLst>
              <a:gd name="adj" fmla="val 25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1572768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传统机器人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1463040"/>
            <a:ext cx="4251960" cy="502920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8" y="1572768"/>
            <a:ext cx="4251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物理 AI 驱动的机器人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153619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9B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618488"/>
            <a:ext cx="347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2677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工作方式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2121408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5808" y="2231136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工程师逐行写死程序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7768" y="2121408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2231136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大模型理解指令，自主规划动作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980944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任务范围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52928" y="2834639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5808" y="2944368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单一任务：焊接、拧螺丝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7768" y="2834639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0648" y="2944368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一机多能：搬箱、分拣、装配都会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9417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环境适应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52928" y="3547872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35808" y="3657600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环境必须精确布置，怕变化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87768" y="3547872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70648" y="3657600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能适应杂乱、动态的真实场景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40740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学习进化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52928" y="4261104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35808" y="437083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换任务 = 重新编程调试数周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4261104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0648" y="4370832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换任务 = 给数据/演示，快速泛化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1206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典型形态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52928" y="4974336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35808" y="5084064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工业机械臂、AGV 小车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87768" y="4974336"/>
            <a:ext cx="4251960" cy="603504"/>
          </a:xfrm>
          <a:prstGeom prst="roundRect">
            <a:avLst>
              <a:gd name="adj" fmla="val 1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70648" y="5084064"/>
            <a:ext cx="3886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人形机器人、四足、智能车辆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806440"/>
            <a:ext cx="110642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593445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本质变化：机器人从“自动化设备”升级为“可自主学习的智能体”——这叫“专业通才型”机器人。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物理 AI 的核心优势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11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60020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1920240"/>
            <a:ext cx="777240" cy="777240"/>
          </a:xfrm>
          <a:prstGeom prst="ellipse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103120"/>
            <a:ext cx="777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8" y="1892808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通用性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8" y="2377440"/>
            <a:ext cx="3794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一套模型适配多种本体与任务，能力可迁移、可复制，不再“一个场景一套系统”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60020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10528" y="1920240"/>
            <a:ext cx="777240" cy="777240"/>
          </a:xfrm>
          <a:prstGeom prst="ellipse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103120"/>
            <a:ext cx="777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28AC8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1892808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训练快、成本低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377440"/>
            <a:ext cx="3794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仿真中并行训练，一夜完成百万次试错；合成数据把采集成本降低几个数量级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79476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968" y="4114800"/>
            <a:ext cx="777240" cy="777240"/>
          </a:xfrm>
          <a:prstGeom prst="ellipse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297680"/>
            <a:ext cx="777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D97D0E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808" y="4087368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安全可控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2808" y="4572000"/>
            <a:ext cx="3794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危险场景先在虚拟世界验证，闭环测试充分后才部署到真机，大幅降低事故风险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94760"/>
            <a:ext cx="53492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10528" y="4114800"/>
            <a:ext cx="777240" cy="777240"/>
          </a:xfrm>
          <a:prstGeom prst="ellipse">
            <a:avLst/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4297680"/>
            <a:ext cx="777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D5FC4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4087368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持续进化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4572000"/>
            <a:ext cx="3794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真实运行数据回流再训练，形成“越用越聪明”的数据飞轮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806440"/>
            <a:ext cx="11064240" cy="54864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93445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一句话：物理 AI 让“造一个什么都能干的机器人”从科幻变成了工程问题。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097280" y="-914400"/>
            <a:ext cx="5669280" cy="868680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108960" y="4480560"/>
            <a:ext cx="1463040" cy="1463040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29000" y="48006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56432"/>
            <a:ext cx="466344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LANDSCAPE &amp;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4884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产业格局与优秀案例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38928" y="3017520"/>
            <a:ext cx="6309360" cy="0"/>
          </a:xfrm>
          <a:prstGeom prst="line">
            <a:avLst/>
          </a:prstGeom>
          <a:ln w="15240">
            <a:solidFill>
              <a:srgbClr val="DDEA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175504" y="339242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331012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国际领先公司与平台型玩家</a:t>
            </a:r>
          </a:p>
        </p:txBody>
      </p:sp>
      <p:sp>
        <p:nvSpPr>
          <p:cNvPr id="12" name="Oval 11"/>
          <p:cNvSpPr/>
          <p:nvPr/>
        </p:nvSpPr>
        <p:spPr>
          <a:xfrm>
            <a:off x="5175504" y="386791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378561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中国力量：量产与场景落地</a:t>
            </a:r>
          </a:p>
        </p:txBody>
      </p:sp>
      <p:sp>
        <p:nvSpPr>
          <p:cNvPr id="14" name="Oval 13"/>
          <p:cNvSpPr/>
          <p:nvPr/>
        </p:nvSpPr>
        <p:spPr>
          <a:xfrm>
            <a:off x="5175504" y="434340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4261104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六个值得关注的标杆案例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GLOBAL PLAYERS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哪些公司做得好 · 国际篇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13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554480"/>
            <a:ext cx="53492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77393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平台底座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1773936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NVIDIA 英伟达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12848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全栈物理 AI 平台：Cosmos 世界模型、GR00T、Omniverse 仿真、Thor 芯片，生态最完整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554480"/>
            <a:ext cx="53492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177393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2880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28AC8"/>
                </a:solidFill>
                <a:latin typeface="微软雅黑"/>
                <a:ea typeface="微软雅黑"/>
                <a:cs typeface="微软雅黑"/>
              </a:rPr>
              <a:t>整机+自驾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1773936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Tesla 特斯拉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212848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Optimus V3 产线 2026 年中启动，远期规划百万台/年；FSD 自动驾驶数据闭环领先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127248"/>
            <a:ext cx="53492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334670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401568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D97D0E"/>
                </a:solidFill>
                <a:latin typeface="微软雅黑"/>
                <a:ea typeface="微软雅黑"/>
                <a:cs typeface="微软雅黑"/>
              </a:rPr>
              <a:t>人形机器人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50008" y="334670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Figure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785616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BotQ 工厂每小时下线一台 Figure 03，已进入宝马工厂承担真实生产物流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127248"/>
            <a:ext cx="53492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6520" y="334670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401568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D5FC4"/>
                </a:solidFill>
                <a:latin typeface="微软雅黑"/>
                <a:ea typeface="微软雅黑"/>
                <a:cs typeface="微软雅黑"/>
              </a:rPr>
              <a:t>具身大模型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334670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Physical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785616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π 系列通用机器人基础模型，让不同机器人共享一个“大脑”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700016"/>
            <a:ext cx="53492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491947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974336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04E6A"/>
                </a:solidFill>
                <a:latin typeface="微软雅黑"/>
                <a:ea typeface="微软雅黑"/>
                <a:cs typeface="微软雅黑"/>
              </a:rPr>
              <a:t>模型研发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50008" y="491947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Google DeepMind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358384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Gemini Robotics 系列：把多模态大模型能力延伸到机器人操作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0488" y="4700016"/>
            <a:ext cx="534924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46520" y="491947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974336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运动控制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491947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Boston Dynamics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358384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Atlas 电动版与现代汽车工厂试点结合，运动控制能力业界标杆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CHINA PLAYERS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哪些公司做得好 · 中国篇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14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801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7D0E"/>
                </a:solidFill>
                <a:latin typeface="微软雅黑"/>
                <a:ea typeface="微软雅黑"/>
                <a:cs typeface="微软雅黑"/>
              </a:rPr>
              <a:t>2026 年被视为人形机器人“量产元年”：中国整机产量有望突破 10 万台，出货量占全球近九成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83080"/>
            <a:ext cx="53492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1783080"/>
            <a:ext cx="109728" cy="135331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192938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宇树科技 Unitree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313432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科创板 IPO 已注册生效，双足人形出货量全球第一；2026 年出货目标 1-2 万台，完成全球首例人形机器人手术演示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783080"/>
            <a:ext cx="53492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0488" y="1783080"/>
            <a:ext cx="109728" cy="1353312"/>
          </a:xfrm>
          <a:prstGeom prst="roundRect">
            <a:avLst>
              <a:gd name="adj" fmla="val 50000"/>
            </a:avLst>
          </a:prstGeom>
          <a:solidFill>
            <a:srgbClr val="028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92938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智元机器人 AgiBot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313432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2025 年出货 5168 台全球第一（Omdia），第 1.5 万台已下线；开源 AgiBot World 百万条轨迹数据集与 GO-1 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19272"/>
            <a:ext cx="53492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319272"/>
            <a:ext cx="109728" cy="1353312"/>
          </a:xfrm>
          <a:prstGeom prst="roundRect">
            <a:avLst>
              <a:gd name="adj" fmla="val 50000"/>
            </a:avLst>
          </a:prstGeom>
          <a:solidFill>
            <a:srgbClr val="D97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46557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银河通用 Galbot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849624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融资 25 亿元、估值超 200 亿；主打仿真合成数据训练，机器人落地零售、工厂、药房场景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319272"/>
            <a:ext cx="53492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488" y="3319272"/>
            <a:ext cx="109728" cy="1353312"/>
          </a:xfrm>
          <a:prstGeom prst="roundRect">
            <a:avLst>
              <a:gd name="adj" fmla="val 50000"/>
            </a:avLst>
          </a:prstGeom>
          <a:solidFill>
            <a:srgbClr val="6D5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346557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优必选 UBTech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3849624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Walker S2 工业人形机器人获超 13 亿元订单，批量进入汽车工厂实训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855464"/>
            <a:ext cx="53492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4855464"/>
            <a:ext cx="109728" cy="1353312"/>
          </a:xfrm>
          <a:prstGeom prst="roundRect">
            <a:avLst>
              <a:gd name="adj" fmla="val 50000"/>
            </a:avLst>
          </a:prstGeom>
          <a:solidFill>
            <a:srgbClr val="E0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0017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星动纪元 / 逐际动力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5385816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清华系创业代表：端到端具身大模型 + 高动态运动控制，科研与工业场景双线推进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4855464"/>
            <a:ext cx="53492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90488" y="4855464"/>
            <a:ext cx="109728" cy="1353312"/>
          </a:xfrm>
          <a:prstGeom prst="roundRect">
            <a:avLst>
              <a:gd name="adj" fmla="val 50000"/>
            </a:avLst>
          </a:prstGeom>
          <a:solidFill>
            <a:srgbClr val="0B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3096" y="50017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自动驾驶阵营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3096" y="5385816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华为、 Momenta、小鹏、文远知行等推动 L2++ 普及与 L4 试运营，是物理 AI 最成熟的落地场景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SHOWCASES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值得关注的优秀案例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15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55448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7830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4228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制造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1284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Figure 03 进宝马工厂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6148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2026 年 6 月起在宝马斯帕坦堡工厂承担真实生产物流，人形机器人首次大规模“进厂打工”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55448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F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9432" y="17830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0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1824228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医疗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21284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宇树机器人手术演示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76148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完成全球首例人形机器人辅助活体手术演示，展示亚毫米级操作精度潜力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55448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75904" y="17830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8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1824228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221284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奔驰 CLA 搭载 Alpamayo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76148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首款基于 NVIDIA 开源推理模型的量产乘用车，向 L4 级自动驾驶迈进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319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41605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D97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201668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制造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9028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普智 G2 零失误实战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3892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在国内头部 3C 工厂完成 8 小时、2283 次任务零失误测试，验证工业可靠性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9319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5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99432" y="41605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6D5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4201668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2" y="459028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智元 AgiBot World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2" y="513892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开源 100 万+ 条真机操作轨迹，覆盖 217 项任务，成为行业公共数据底座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2" y="393192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75904" y="41605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B6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4201668"/>
            <a:ext cx="777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零售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4590288"/>
            <a:ext cx="30175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银河通用智慧零售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5138928"/>
            <a:ext cx="3017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机器人在无人药店、便利店完成取货补货全流程，7×24 小时商业化运营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097280" y="-914400"/>
            <a:ext cx="5669280" cy="8686800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108960" y="4480560"/>
            <a:ext cx="1463040" cy="1463040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29000" y="4800600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56432"/>
            <a:ext cx="466344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TRENDS &amp;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4884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未来趋势与挑战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38928" y="3017520"/>
            <a:ext cx="6309360" cy="0"/>
          </a:xfrm>
          <a:prstGeom prst="line">
            <a:avLst/>
          </a:prstGeom>
          <a:ln w="15240">
            <a:solidFill>
              <a:srgbClr val="DDEA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175504" y="3392424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13248" y="331012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五大发展趋势：量产、世界模型、VLA、数据飞轮、成本</a:t>
            </a:r>
          </a:p>
        </p:txBody>
      </p:sp>
      <p:sp>
        <p:nvSpPr>
          <p:cNvPr id="12" name="Oval 11"/>
          <p:cNvSpPr/>
          <p:nvPr/>
        </p:nvSpPr>
        <p:spPr>
          <a:xfrm>
            <a:off x="5175504" y="3867912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3785616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四大现实挑战：安全、数据、灵巧操作、法规伦理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物理 AI 的五大发展趋势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17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517904"/>
            <a:ext cx="1106424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528" y="1691639"/>
            <a:ext cx="493776" cy="493776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801368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1636776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量产元年开启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636776"/>
            <a:ext cx="7132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2026 年中国人形机器人产量有望破 10 万台；Figure、特斯拉、智元、宇树纷纷建产线，规模效应显现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468880"/>
            <a:ext cx="1106424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5528" y="2642616"/>
            <a:ext cx="493776" cy="493776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752344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2587752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世界模型成为标配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587752"/>
            <a:ext cx="7132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Cosmos 类模型让 AI 在“脑海”中预演物理世界，成为训练与决策的基础设施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419856"/>
            <a:ext cx="1106424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5528" y="3593592"/>
            <a:ext cx="493776" cy="493776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703320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538728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VLA 大模型驱动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3538728"/>
            <a:ext cx="7132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视觉-语言-动作模型让机器人“听懂人话、看懂场景、直接动手”，走向通用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370832"/>
            <a:ext cx="1106424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528" y="4544568"/>
            <a:ext cx="493776" cy="493776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654296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489704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数据飞轮加速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4489704"/>
            <a:ext cx="7132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量产越多→真实数据越多→模型越强→越好卖，头部效应将愈发明显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321808"/>
            <a:ext cx="11064240" cy="841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5528" y="5495544"/>
            <a:ext cx="493776" cy="493776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605272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81328" y="5440680"/>
            <a:ext cx="2606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成本快速下降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5440680"/>
            <a:ext cx="7132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整机价格进入 10 万元级甚至更低，租赁模式兴起，中小企业与个人用得起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0350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业界共识：未来 3-5 年单一场景任务基本可行，2030 年前后进入多场景规模化期。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也要看到：四大现实挑战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18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600200"/>
            <a:ext cx="53492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600200"/>
            <a:ext cx="109728" cy="1691640"/>
          </a:xfrm>
          <a:prstGeom prst="roundRect">
            <a:avLst>
              <a:gd name="adj" fmla="val 50000"/>
            </a:avLst>
          </a:prstGeom>
          <a:solidFill>
            <a:srgbClr val="E0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17830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安全与可靠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1728216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DDEAE7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240280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几十公斤的机器人与人共处，一次失控就是事故；需要功能安全、冗余设计与行业标准兜底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600200"/>
            <a:ext cx="53492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0488" y="1600200"/>
            <a:ext cx="109728" cy="1691640"/>
          </a:xfrm>
          <a:prstGeom prst="roundRect">
            <a:avLst>
              <a:gd name="adj" fmla="val 50000"/>
            </a:avLst>
          </a:prstGeom>
          <a:solidFill>
            <a:srgbClr val="E0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830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数据仍然稀缺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88168" y="1728216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DDEAE7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240280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真实操作数据采集慢、贵；仿真与现实的差距（Sim-to-Real Gap）仍需持续弥合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520440"/>
            <a:ext cx="53492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520440"/>
            <a:ext cx="109728" cy="1691640"/>
          </a:xfrm>
          <a:prstGeom prst="roundRect">
            <a:avLst>
              <a:gd name="adj" fmla="val 50000"/>
            </a:avLst>
          </a:prstGeom>
          <a:solidFill>
            <a:srgbClr val="E0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7033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灵巧操作瓶颈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3648456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DDEAE7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160520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行走已较成熟，但“手”的精细操作（柔性物体、小零件）仍是世界级难题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520440"/>
            <a:ext cx="53492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90488" y="3520440"/>
            <a:ext cx="109728" cy="1691640"/>
          </a:xfrm>
          <a:prstGeom prst="roundRect">
            <a:avLst>
              <a:gd name="adj" fmla="val 50000"/>
            </a:avLst>
          </a:prstGeom>
          <a:solidFill>
            <a:srgbClr val="E0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7033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成本与法规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88168" y="3648456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DDEAE7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160520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整机、维护成本仍高；责任认定、隐私、就业影响等伦理法规框架尚在早期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623560"/>
            <a:ext cx="11064240" cy="685800"/>
          </a:xfrm>
          <a:prstGeom prst="roundRect">
            <a:avLst>
              <a:gd name="adj" fmla="val 20000"/>
            </a:avLst>
          </a:prstGeom>
          <a:solidFill>
            <a:srgbClr val="FF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77900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E04E6A"/>
                </a:solidFill>
                <a:latin typeface="微软雅黑"/>
                <a:ea typeface="微软雅黑"/>
                <a:cs typeface="微软雅黑"/>
              </a:rPr>
              <a:t>理性看待：物理 AI 是一条前景广阔但更漫长的路，需要定力与耐心，避免短期过度乐观。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HOW TO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普通人如何入门物理 AI？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19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55448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554480"/>
            <a:ext cx="2606040" cy="914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7830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第 1 步 · 建立认知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5798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看懂概念框架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8096" y="2514600"/>
            <a:ext cx="2194560" cy="0"/>
          </a:xfrm>
          <a:prstGeom prst="line">
            <a:avLst/>
          </a:prstGeom>
          <a:ln w="12700">
            <a:solidFill>
              <a:srgbClr val="DDEA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86384" y="2715768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651760"/>
            <a:ext cx="2103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关注 NVIDIA GTC / CES 演讲、行业报告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" y="3630168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566160"/>
            <a:ext cx="2103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理解“三台计算机”与仿真优先思路</a:t>
            </a:r>
          </a:p>
        </p:txBody>
      </p:sp>
      <p:sp>
        <p:nvSpPr>
          <p:cNvPr id="20" name="Chevron 19"/>
          <p:cNvSpPr/>
          <p:nvPr/>
        </p:nvSpPr>
        <p:spPr>
          <a:xfrm>
            <a:off x="3191256" y="2834640"/>
            <a:ext cx="219456" cy="329184"/>
          </a:xfrm>
          <a:prstGeom prst="chevron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83280" y="155448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83280" y="1554480"/>
            <a:ext cx="2606040" cy="914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17830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第 2 步 · 动手仿真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215798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零硬件成本起步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84448" y="2514600"/>
            <a:ext cx="2194560" cy="0"/>
          </a:xfrm>
          <a:prstGeom prst="line">
            <a:avLst/>
          </a:prstGeom>
          <a:ln w="12700">
            <a:solidFill>
              <a:srgbClr val="DDEA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602736" y="2715768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67328" y="2651760"/>
            <a:ext cx="2103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NVIDIA Isaac Sim / Isaac Lab 免费教程</a:t>
            </a:r>
          </a:p>
        </p:txBody>
      </p:sp>
      <p:sp>
        <p:nvSpPr>
          <p:cNvPr id="28" name="Oval 27"/>
          <p:cNvSpPr/>
          <p:nvPr/>
        </p:nvSpPr>
        <p:spPr>
          <a:xfrm>
            <a:off x="3602736" y="3630168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7328" y="3566160"/>
            <a:ext cx="2103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MuJoCo、Gazebo 仿真器 + ROS 2 基础</a:t>
            </a:r>
          </a:p>
        </p:txBody>
      </p:sp>
      <p:sp>
        <p:nvSpPr>
          <p:cNvPr id="30" name="Chevron 29"/>
          <p:cNvSpPr/>
          <p:nvPr/>
        </p:nvSpPr>
        <p:spPr>
          <a:xfrm>
            <a:off x="6007608" y="2834640"/>
            <a:ext cx="219456" cy="329184"/>
          </a:xfrm>
          <a:prstGeom prst="chevron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99632" y="155448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9632" y="1554480"/>
            <a:ext cx="2606040" cy="914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7830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第 3 步 · 玩转模型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15798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用开源资源实操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0" y="2514600"/>
            <a:ext cx="2194560" cy="0"/>
          </a:xfrm>
          <a:prstGeom prst="line">
            <a:avLst/>
          </a:prstGeom>
          <a:ln w="12700">
            <a:solidFill>
              <a:srgbClr val="DDEA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419088" y="2715768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2651760"/>
            <a:ext cx="2103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Hugging Face LeRobot 低门槛入门</a:t>
            </a:r>
          </a:p>
        </p:txBody>
      </p:sp>
      <p:sp>
        <p:nvSpPr>
          <p:cNvPr id="38" name="Oval 37"/>
          <p:cNvSpPr/>
          <p:nvPr/>
        </p:nvSpPr>
        <p:spPr>
          <a:xfrm>
            <a:off x="6419088" y="3630168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566160"/>
            <a:ext cx="2103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智元 AgiBot World 等开源数据集</a:t>
            </a:r>
          </a:p>
        </p:txBody>
      </p:sp>
      <p:sp>
        <p:nvSpPr>
          <p:cNvPr id="40" name="Chevron 39"/>
          <p:cNvSpPr/>
          <p:nvPr/>
        </p:nvSpPr>
        <p:spPr>
          <a:xfrm>
            <a:off x="8823960" y="2834640"/>
            <a:ext cx="219456" cy="329184"/>
          </a:xfrm>
          <a:prstGeom prst="chevron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15984" y="155448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A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015984" y="1554480"/>
            <a:ext cx="2606040" cy="914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17152" y="17830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第 4 步 · 真机实践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215798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加入社区共创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217152" y="2514600"/>
            <a:ext cx="2194560" cy="0"/>
          </a:xfrm>
          <a:prstGeom prst="line">
            <a:avLst/>
          </a:prstGeom>
          <a:ln w="12700">
            <a:solidFill>
              <a:srgbClr val="DDEA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9235440" y="2715768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0032" y="2651760"/>
            <a:ext cx="2103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万元级开源机械臂/小车 DIY</a:t>
            </a:r>
          </a:p>
        </p:txBody>
      </p:sp>
      <p:sp>
        <p:nvSpPr>
          <p:cNvPr id="48" name="Oval 47"/>
          <p:cNvSpPr/>
          <p:nvPr/>
        </p:nvSpPr>
        <p:spPr>
          <a:xfrm>
            <a:off x="9235440" y="3630168"/>
            <a:ext cx="73152" cy="731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00032" y="3566160"/>
            <a:ext cx="2103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参加机器人竞赛、黑客松与开发者社区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4937760"/>
            <a:ext cx="11064240" cy="12801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" y="5102352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给非技术同学的建议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" y="544068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不必先学编程：从理解产业逻辑、体验机器人产品、跟踪头部公司动态开始；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把物理 AI 当作“新基建”来理解 —— 它带来的岗位与机会远不止算法工程师。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75488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3657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微软雅黑"/>
                <a:ea typeface="微软雅黑"/>
                <a:cs typeface="微软雅黑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总结：物理 AI 离我们有多近？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物理 AI · Physical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20 / 20</a:t>
            </a:r>
          </a:p>
        </p:txBody>
      </p:sp>
      <p:sp>
        <p:nvSpPr>
          <p:cNvPr id="8" name="Oval 7"/>
          <p:cNvSpPr/>
          <p:nvPr/>
        </p:nvSpPr>
        <p:spPr>
          <a:xfrm>
            <a:off x="10607040" y="320040"/>
            <a:ext cx="256032" cy="256032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502920"/>
            <a:ext cx="146304" cy="146304"/>
          </a:xfrm>
          <a:prstGeom prst="ellipse">
            <a:avLst/>
          </a:prstGeom>
          <a:solidFill>
            <a:srgbClr val="F0F9FF"/>
          </a:solidFill>
          <a:ln w="12700">
            <a:solidFill>
              <a:srgbClr val="028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92840" y="274320"/>
            <a:ext cx="91440" cy="914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55448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783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它是什么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212848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能理解物理世界并与之交互的 AI，是感知/生成/代理 AI 之后的第四波浪潮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5448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783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它在做什么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12848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用仿真与世界模型低成本训练，再部署到机器人与自动驾驶等自主机器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55448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783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为什么重要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212848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E504F"/>
                </a:solidFill>
                <a:latin typeface="微软雅黑"/>
                <a:ea typeface="微软雅黑"/>
                <a:cs typeface="微软雅黑"/>
              </a:rPr>
              <a:t>让机器人从“专机”变“通才”，开启新一轮工业革命的入口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657600"/>
            <a:ext cx="11064240" cy="1371600"/>
          </a:xfrm>
          <a:prstGeom prst="roundRect">
            <a:avLst>
              <a:gd name="adj" fmla="val 14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913632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 i="0">
                <a:solidFill>
                  <a:srgbClr val="0B6E64"/>
                </a:solidFill>
                <a:latin typeface="微软雅黑"/>
                <a:ea typeface="微软雅黑"/>
                <a:cs typeface="微软雅黑"/>
              </a:rPr>
              <a:t>“物理 AI 与机器人技术，将开启新一轮工业革命。” —— 黄仁勋</a:t>
            </a:r>
          </a:p>
          <a:p>
            <a:pPr algn="ctr">
              <a:lnSpc>
                <a:spcPct val="150000"/>
              </a:lnSpc>
            </a:pPr>
            <a:r>
              <a:rPr sz="1400" b="0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对我们而言：现在正是理解它、用好它的最佳时点。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4406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0F2B2A"/>
                </a:solidFill>
                <a:latin typeface="微软雅黑"/>
                <a:ea typeface="微软雅黑"/>
                <a:cs typeface="微软雅黑"/>
              </a:rPr>
              <a:t>谢谢聆听 · 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0350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A9B99"/>
                </a:solidFill>
                <a:latin typeface="微软雅黑"/>
                <a:ea typeface="微软雅黑"/>
                <a:cs typeface="微软雅黑"/>
              </a:rPr>
              <a:t>资料来源：NVIDIA 官方资料、CES 2026、新华网、Omdia、36 氪等公开报道（2026 年 7 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